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Erros por montagem</c:v>
                </c:pt>
              </c:strCache>
            </c:strRef>
          </c:tx>
          <c:spPr>
            <a:solidFill>
              <a:srgbClr val="F2A65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A65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E8C9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Papel</c:v>
                  </c:pt>
                  <c:pt idx="1">
                    <c:v>Visualizador 3D</c:v>
                  </c:pt>
                  <c:pt idx="2">
                    <c:v>RA com validação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4.25</c:v>
                </c:pt>
                <c:pt idx="1">
                  <c:v>3</c:v>
                </c:pt>
                <c:pt idx="2">
                  <c:v>2.31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4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8F1F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.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15s. Falar apenas nome do projeto, equipe e a frase de posicionamento. Nao adiantar o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20s. Cada um diz o proprio nome e a funcao em 5 segundos. Nao ler o texto do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20s. Esta e a frase-sintese. Falar devagar e pausar depois dela.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30s. Comecar pelo numero 4,25. Citar UM exemplo de erro, nao os tres.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30s. So o essencial: RA reduz erro, mas custa tempo, e o tempo e otimizavel. Nao explicar o estudo.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20s. Foco no aluno iniciante. Mencionar professor e instituicao em uma frase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35s. Ler os quatro verbos e desenvolver so o Valida. Esse e o diferencial tecnico.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25s. Descer a coluna da direita: nao, nao, parcial, sim. E so 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25s. Percorrer o fluxo de quatro caixas. Citar Unity e AR Foundation, o resto e leitura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20s. Dizer onde a equipe esta hoje. Nao detalhar as fases futuras.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15s. Ler so os quatro numeros. Ajustar se a carga real for outra.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15s. Fechar com a frase e agradecer. Nao introduzir informacao nova.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371600"/>
            <a:ext cx="4754880" cy="4754880"/>
          </a:xfrm>
          <a:prstGeom prst="ellipse">
            <a:avLst/>
          </a:prstGeom>
          <a:solidFill>
            <a:srgbClr val="15343E"/>
          </a:solidFill>
          <a:ln/>
        </p:spPr>
      </p:sp>
      <p:sp>
        <p:nvSpPr>
          <p:cNvPr id="3" name="Shape 1"/>
          <p:cNvSpPr/>
          <p:nvPr/>
        </p:nvSpPr>
        <p:spPr>
          <a:xfrm>
            <a:off x="7635240" y="-228600"/>
            <a:ext cx="2468880" cy="2468880"/>
          </a:xfrm>
          <a:prstGeom prst="ellipse">
            <a:avLst/>
          </a:prstGeom>
          <a:solidFill>
            <a:srgbClr val="0E2A33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600200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MontAR</a:t>
            </a:r>
            <a:endParaRPr lang="en-US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578608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Realidade Aumentada com validação sequencial de etapas para a montagem de computadores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977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D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YUPEN   ·   UPX   · 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03504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faz e o que faz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83880" y="274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D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2606040" cy="2395728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2700">
            <a:solidFill>
              <a:srgbClr val="C8DB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81051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2376" y="182880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22376" y="235915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Enzo Zorzetto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22376" y="29077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e experimento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22376" y="321868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da arte, protocolo experimental e análise de dados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0" y="1572768"/>
            <a:ext cx="2606040" cy="2395728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2700">
            <a:solidFill>
              <a:srgbClr val="C8DB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11296" y="181051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11296" y="182880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511296" y="235915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Yuri Peruzzo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511296" y="29077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AR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11296" y="321868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Rastreamento, sobreposição 3D e fluxo de validação de etapas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80760" y="1572768"/>
            <a:ext cx="2606040" cy="2395728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2700">
            <a:solidFill>
              <a:srgbClr val="C8DB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0216" y="181051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00216" y="182880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300216" y="235915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Ricci Gomes Nascimento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6300216" y="29077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e conteúdo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300216" y="321868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Requisitos, interface, roteiro de montagem e documentação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183880" y="274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D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8138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000" dirty="0">
                <a:solidFill>
                  <a:srgbClr val="E8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aplicativo de celular que </a:t>
            </a:r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projeta a instrução sobre o computador real</a:t>
            </a:r>
            <a:pPr indent="0" marL="0">
              <a:lnSpc>
                <a:spcPts val="4000"/>
              </a:lnSpc>
              <a:buNone/>
            </a:pPr>
            <a:r>
              <a:rPr lang="en-US" sz="3000" dirty="0">
                <a:solidFill>
                  <a:srgbClr val="E8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só libera a próxima etapa depois de confirmar a anterior.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5204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D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óculos de RA. Sem hardware dedicado. No celular que o aluno já tem.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03504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Errar montando um PC custa caro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83880" y="274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D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609344"/>
            <a:ext cx="310896" cy="3108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572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Pinos do soquete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8470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mal assentada entorta pinos LGA e inutiliza a placa-mãe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267712"/>
            <a:ext cx="310896" cy="3108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22311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Conector trocado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5054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de 12V e PCIe têm o mesmo número de pinos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926080"/>
            <a:ext cx="310896" cy="31089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28895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Orientação errada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316382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memória forçado no sentido invertido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0" y="1572768"/>
            <a:ext cx="3154680" cy="1975104"/>
          </a:xfrm>
          <a:prstGeom prst="roundRect">
            <a:avLst>
              <a:gd name="adj" fmla="val 4167"/>
            </a:avLst>
          </a:prstGeom>
          <a:solidFill>
            <a:srgbClr val="0E2A3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760720" y="17830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4,25</a:t>
            </a:r>
            <a:endParaRPr lang="en-US" sz="58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25786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por montagem com instruções em papel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314553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D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Chu, Liao &amp; Lin (2020), n = 48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03504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literatura já mostra o efeito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83880" y="274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D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5029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15000" y="1463040"/>
            <a:ext cx="2926080" cy="3017520"/>
          </a:xfrm>
          <a:prstGeom prst="roundRect">
            <a:avLst>
              <a:gd name="adj" fmla="val 2813"/>
            </a:avLst>
          </a:prstGeom>
          <a:solidFill>
            <a:srgbClr val="15343E"/>
          </a:solidFill>
          <a:ln w="12700">
            <a:solidFill>
              <a:srgbClr val="1D465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0" y="17007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alerta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21031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mesmo estudo, a RA levou 782s contra 358s do papel. A lentidão veio do reconhecimento da peça — não da sobreposição.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36576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D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esse gargalo que tratamos como requisito de projeto.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526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D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médios por montagem — Chu, Liao &amp; Lin (2020), n = 48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03504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usa e onde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83880" y="274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D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8DB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828800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2376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 iniciante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22376" y="257860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montagem, sem experiência prévia com hardware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60020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8DB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11296" y="1828800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11296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de laboratório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11296" y="257860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 vários alunos ao mesmo tempo em aula prática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0760" y="160020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8DB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0216" y="1828800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0216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Instituição de ensino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00216" y="257860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componente danificado e libera mais prática real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36118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 uso: bancada de laboratório, componentes reais, celular na mão.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03504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app resolve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83880" y="274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D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3931920" cy="1051560"/>
          </a:xfrm>
          <a:prstGeom prst="roundRect">
            <a:avLst>
              <a:gd name="adj" fmla="val 7826"/>
            </a:avLst>
          </a:prstGeom>
          <a:solidFill>
            <a:srgbClr val="15343E"/>
          </a:solidFill>
          <a:ln w="12700">
            <a:solidFill>
              <a:srgbClr val="1D46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1709928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04088" y="172821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16152" y="16916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16152" y="19659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câmera reconhece o componente e destaca o encaixe correto na placa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508760"/>
            <a:ext cx="3931920" cy="1051560"/>
          </a:xfrm>
          <a:prstGeom prst="roundRect">
            <a:avLst>
              <a:gd name="adj" fmla="val 7826"/>
            </a:avLst>
          </a:prstGeom>
          <a:solidFill>
            <a:srgbClr val="15343E"/>
          </a:solidFill>
          <a:ln w="12700">
            <a:solidFill>
              <a:srgbClr val="1D46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64608" y="1709928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64608" y="172821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76672" y="16916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76672" y="19659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instrução 3D fica sobre a peça real, com a orientação certa de encaixe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2743200"/>
            <a:ext cx="3931920" cy="1051560"/>
          </a:xfrm>
          <a:prstGeom prst="roundRect">
            <a:avLst>
              <a:gd name="adj" fmla="val 7826"/>
            </a:avLst>
          </a:prstGeom>
          <a:solidFill>
            <a:srgbClr val="15343E"/>
          </a:solidFill>
          <a:ln w="12700">
            <a:solidFill>
              <a:srgbClr val="1D46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2944368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4088" y="29626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16152" y="29260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16152" y="32004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libera o próximo passo depois de confirmar que o anterior foi concluído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3931920" cy="1051560"/>
          </a:xfrm>
          <a:prstGeom prst="roundRect">
            <a:avLst>
              <a:gd name="adj" fmla="val 7826"/>
            </a:avLst>
          </a:prstGeom>
          <a:solidFill>
            <a:srgbClr val="15343E"/>
          </a:solidFill>
          <a:ln w="12700">
            <a:solidFill>
              <a:srgbClr val="1D46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64608" y="2944368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64608" y="29626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376672" y="29260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376672" y="32004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cada etapa concluída e permite retomar a montagem de onde parou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03504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não é só mais um tutorial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83880" y="274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D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727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A95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5727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A95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15727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A95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IMPEDE O ERRO?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901952"/>
            <a:ext cx="818388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D5E3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do fabricante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20208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Estático, 2D, fora da peça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18388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D5E3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578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em vídeo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2587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Ritmo fixo, ângulo único, sem verificação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2578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035808"/>
            <a:ext cx="818388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D5E3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1455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de RA existentes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06324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Exigem óculos ou bancada fixa com tripé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31455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602736"/>
            <a:ext cx="8183880" cy="493776"/>
          </a:xfrm>
          <a:prstGeom prst="roundRect">
            <a:avLst>
              <a:gd name="adj" fmla="val 12963"/>
            </a:avLst>
          </a:prstGeom>
          <a:solidFill>
            <a:srgbClr val="0E2A33"/>
          </a:solidFill>
          <a:ln w="12700">
            <a:solidFill>
              <a:srgbClr val="0E2A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7124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063240" y="3721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comum, instrução sobre a peça, etapa validada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37124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03504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Tecnologias e visão do sistema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83880" y="274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D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1828800" cy="1005840"/>
          </a:xfrm>
          <a:prstGeom prst="roundRect">
            <a:avLst>
              <a:gd name="adj" fmla="val 8182"/>
            </a:avLst>
          </a:prstGeom>
          <a:solidFill>
            <a:srgbClr val="15343E"/>
          </a:solidFill>
          <a:ln w="12700">
            <a:solidFill>
              <a:srgbClr val="1D46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" y="1627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1901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celular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350008" y="170078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D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624328" y="1463040"/>
            <a:ext cx="1828800" cy="1005840"/>
          </a:xfrm>
          <a:prstGeom prst="roundRect">
            <a:avLst>
              <a:gd name="adj" fmla="val 8182"/>
            </a:avLst>
          </a:prstGeom>
          <a:solidFill>
            <a:srgbClr val="15343E"/>
          </a:solidFill>
          <a:ln w="12700">
            <a:solidFill>
              <a:srgbClr val="1D465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88920" y="1627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1901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peça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71416" y="170078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D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745736" y="1463040"/>
            <a:ext cx="1828800" cy="1005840"/>
          </a:xfrm>
          <a:prstGeom prst="roundRect">
            <a:avLst>
              <a:gd name="adj" fmla="val 8182"/>
            </a:avLst>
          </a:prstGeom>
          <a:solidFill>
            <a:srgbClr val="15343E"/>
          </a:solidFill>
          <a:ln w="12700">
            <a:solidFill>
              <a:srgbClr val="1D46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10328" y="1627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Sobrepõe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910328" y="1901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3D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92824" y="170078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D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867144" y="1463040"/>
            <a:ext cx="1828800" cy="1005840"/>
          </a:xfrm>
          <a:prstGeom prst="roundRect">
            <a:avLst>
              <a:gd name="adj" fmla="val 8182"/>
            </a:avLst>
          </a:prstGeom>
          <a:solidFill>
            <a:srgbClr val="15343E"/>
          </a:solidFill>
          <a:ln w="12700">
            <a:solidFill>
              <a:srgbClr val="1D465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31736" y="1627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031736" y="1901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avança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2834640"/>
            <a:ext cx="1874520" cy="1207008"/>
          </a:xfrm>
          <a:prstGeom prst="roundRect">
            <a:avLst>
              <a:gd name="adj" fmla="val 6818"/>
            </a:avLst>
          </a:prstGeom>
          <a:solidFill>
            <a:srgbClr val="15343E"/>
          </a:solidFill>
          <a:ln w="12700">
            <a:solidFill>
              <a:srgbClr val="1D46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" y="3017520"/>
            <a:ext cx="155448" cy="1554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7512" y="325526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67512" y="356616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3D e lógica das etapas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24328" y="2834640"/>
            <a:ext cx="1874520" cy="1207008"/>
          </a:xfrm>
          <a:prstGeom prst="roundRect">
            <a:avLst>
              <a:gd name="adj" fmla="val 6818"/>
            </a:avLst>
          </a:prstGeom>
          <a:solidFill>
            <a:srgbClr val="15343E"/>
          </a:solidFill>
          <a:ln w="12700">
            <a:solidFill>
              <a:srgbClr val="1D46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88920" y="3017520"/>
            <a:ext cx="155448" cy="1554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788920" y="325526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Foundation / Vuforia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2788920" y="356616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 e reconhecimento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45736" y="2834640"/>
            <a:ext cx="1874520" cy="1207008"/>
          </a:xfrm>
          <a:prstGeom prst="roundRect">
            <a:avLst>
              <a:gd name="adj" fmla="val 6818"/>
            </a:avLst>
          </a:prstGeom>
          <a:solidFill>
            <a:srgbClr val="15343E"/>
          </a:solidFill>
          <a:ln w="12700">
            <a:solidFill>
              <a:srgbClr val="1D46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10328" y="3017520"/>
            <a:ext cx="155448" cy="1554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910328" y="325526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910328" y="356616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comum, sem hardware extra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67144" y="2834640"/>
            <a:ext cx="1874520" cy="1207008"/>
          </a:xfrm>
          <a:prstGeom prst="roundRect">
            <a:avLst>
              <a:gd name="adj" fmla="val 6818"/>
            </a:avLst>
          </a:prstGeom>
          <a:solidFill>
            <a:srgbClr val="15343E"/>
          </a:solidFill>
          <a:ln w="12700">
            <a:solidFill>
              <a:srgbClr val="1D465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31736" y="3017520"/>
            <a:ext cx="155448" cy="1554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031736" y="325526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Blender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031736" y="356616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dos componentes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03504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do semestre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83880" y="274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D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2139696"/>
            <a:ext cx="7406640" cy="32004"/>
          </a:xfrm>
          <a:prstGeom prst="rect">
            <a:avLst/>
          </a:prstGeom>
          <a:solidFill>
            <a:srgbClr val="C2D6D9"/>
          </a:solidFill>
          <a:ln/>
        </p:spPr>
      </p:sp>
      <p:sp>
        <p:nvSpPr>
          <p:cNvPr id="6" name="Shape 4"/>
          <p:cNvSpPr/>
          <p:nvPr/>
        </p:nvSpPr>
        <p:spPr>
          <a:xfrm>
            <a:off x="649224" y="1965960"/>
            <a:ext cx="365760" cy="365760"/>
          </a:xfrm>
          <a:prstGeom prst="ellipse">
            <a:avLst/>
          </a:prstGeom>
          <a:solidFill>
            <a:srgbClr val="02C39A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77977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da arte e questão de pesquisa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70632" y="196596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7CDD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24328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10/09 – 05/10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624328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de conceito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624328" y="277977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 e sobreposição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92040" y="196596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7CDD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45736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06/10 – 09/11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745736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745736" y="277977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completo de etapas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013448" y="196596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7CDD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67144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10/11 – 01/12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67144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867144" y="277977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e análise de dados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36118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Congelamento do protótipo em 09/11 — depois dessa data, apenas coleta. Apresentação final: 03/12.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03504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Esforço da equipe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83880" y="274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D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1874520" cy="1371600"/>
          </a:xfrm>
          <a:prstGeom prst="roundRect">
            <a:avLst>
              <a:gd name="adj" fmla="val 6000"/>
            </a:avLst>
          </a:prstGeom>
          <a:solidFill>
            <a:srgbClr val="15343E"/>
          </a:solidFill>
          <a:ln w="12700">
            <a:solidFill>
              <a:srgbClr val="1D46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9224" y="171907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49224" y="243230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24328" y="1554480"/>
            <a:ext cx="1874520" cy="1371600"/>
          </a:xfrm>
          <a:prstGeom prst="roundRect">
            <a:avLst>
              <a:gd name="adj" fmla="val 6000"/>
            </a:avLst>
          </a:prstGeom>
          <a:solidFill>
            <a:srgbClr val="15343E"/>
          </a:solidFill>
          <a:ln w="12700">
            <a:solidFill>
              <a:srgbClr val="1D46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70632" y="171907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2770632" y="243230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de projeto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45736" y="1554480"/>
            <a:ext cx="1874520" cy="1371600"/>
          </a:xfrm>
          <a:prstGeom prst="roundRect">
            <a:avLst>
              <a:gd name="adj" fmla="val 6000"/>
            </a:avLst>
          </a:prstGeom>
          <a:solidFill>
            <a:srgbClr val="15343E"/>
          </a:solidFill>
          <a:ln w="12700">
            <a:solidFill>
              <a:srgbClr val="1D465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71907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6h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243230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semanais por pessoa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67144" y="1554480"/>
            <a:ext cx="1874520" cy="1371600"/>
          </a:xfrm>
          <a:prstGeom prst="roundRect">
            <a:avLst>
              <a:gd name="adj" fmla="val 6000"/>
            </a:avLst>
          </a:prstGeom>
          <a:solidFill>
            <a:srgbClr val="15343E"/>
          </a:solidFill>
          <a:ln w="12700">
            <a:solidFill>
              <a:srgbClr val="1D465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13448" y="171907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288h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7013448" y="243230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esforço da equipe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32461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semanas já investidas na pesquisa e doze semanas restantes até 03/12.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2651760"/>
            <a:ext cx="4206240" cy="4206240"/>
          </a:xfrm>
          <a:prstGeom prst="ellipse">
            <a:avLst/>
          </a:prstGeom>
          <a:solidFill>
            <a:srgbClr val="15343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108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63040"/>
            <a:ext cx="6949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erro na bancada.
</a:t>
            </a:r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equipamento real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mão do aluno.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  ·   Equipe YUPEN   ·   Obrigado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2026-09-10T14:28:39Z</dcterms:created>
  <dcterms:modified xsi:type="dcterms:W3CDTF">2026-09-10T14:28:39Z</dcterms:modified>
</cp:coreProperties>
</file>